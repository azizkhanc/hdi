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Published</c:v>
                </c:pt>
              </c:strCache>
            </c:strRef>
          </c:tx>
          <c:spPr>
            <a:solidFill>
              <a:srgbClr val="007DB7"/>
            </a:solidFill>
          </c:spPr>
          <c:cat>
            <c:strRef>
              <c:f>Sheet1!$A$2:$A$6</c:f>
              <c:strCache>
                <c:ptCount val="5"/>
                <c:pt idx="0">
                  <c:v>Pakistan</c:v>
                </c:pt>
                <c:pt idx="1">
                  <c:v>Punjab</c:v>
                </c:pt>
                <c:pt idx="2">
                  <c:v>Sindh</c:v>
                </c:pt>
                <c:pt idx="3">
                  <c:v>KP</c:v>
                </c:pt>
                <c:pt idx="4">
                  <c:v>Balochistan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0.57</c:v>
                </c:pt>
                <c:pt idx="1">
                  <c:v>0.572</c:v>
                </c:pt>
                <c:pt idx="2">
                  <c:v>0.574</c:v>
                </c:pt>
                <c:pt idx="3">
                  <c:v>0.546</c:v>
                </c:pt>
                <c:pt idx="4">
                  <c:v>0.473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Microdata education</c:v>
                </c:pt>
              </c:strCache>
            </c:strRef>
          </c:tx>
          <c:spPr>
            <a:solidFill>
              <a:srgbClr val="44BFE9"/>
            </a:solidFill>
          </c:spPr>
          <c:cat>
            <c:strRef>
              <c:f>Sheet1!$A$2:$A$6</c:f>
              <c:strCache>
                <c:ptCount val="5"/>
                <c:pt idx="0">
                  <c:v>Pakistan</c:v>
                </c:pt>
                <c:pt idx="1">
                  <c:v>Punjab</c:v>
                </c:pt>
                <c:pt idx="2">
                  <c:v>Sindh</c:v>
                </c:pt>
                <c:pt idx="3">
                  <c:v>KP</c:v>
                </c:pt>
                <c:pt idx="4">
                  <c:v>Balochistan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0.57</c:v>
                </c:pt>
                <c:pt idx="1">
                  <c:v>0.572</c:v>
                </c:pt>
                <c:pt idx="2">
                  <c:v>0.574</c:v>
                </c:pt>
                <c:pt idx="3">
                  <c:v>0.546</c:v>
                </c:pt>
                <c:pt idx="4">
                  <c:v>0.473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All three from microdata</c:v>
                </c:pt>
              </c:strCache>
            </c:strRef>
          </c:tx>
          <c:spPr>
            <a:solidFill>
              <a:srgbClr val="F06D2A"/>
            </a:solidFill>
          </c:spPr>
          <c:cat>
            <c:strRef>
              <c:f>Sheet1!$A$2:$A$6</c:f>
              <c:strCache>
                <c:ptCount val="5"/>
                <c:pt idx="0">
                  <c:v>Pakistan</c:v>
                </c:pt>
                <c:pt idx="1">
                  <c:v>Punjab</c:v>
                </c:pt>
                <c:pt idx="2">
                  <c:v>Sindh</c:v>
                </c:pt>
                <c:pt idx="3">
                  <c:v>KP</c:v>
                </c:pt>
                <c:pt idx="4">
                  <c:v>Balochistan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0.567</c:v>
                </c:pt>
                <c:pt idx="1">
                  <c:v>0.582</c:v>
                </c:pt>
                <c:pt idx="2">
                  <c:v>0.561</c:v>
                </c:pt>
                <c:pt idx="3">
                  <c:v>0.544</c:v>
                </c:pt>
                <c:pt idx="4">
                  <c:v>0.476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62626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2"/>
          <c:min val="0.4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Arial"/>
            </a:defRPr>
          </a:pPr>
        </a:p>
      </c:txPr>
    </c:legend>
    <c:dispBlanksAs val="gap"/>
  </c:chart>
  <c:txPr>
    <a:bodyPr/>
    <a:lstStyle/>
    <a:p>
      <a:pPr>
        <a:defRPr sz="16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NHDR 2020</c:v>
                </c:pt>
              </c:strCache>
            </c:strRef>
          </c:tx>
          <c:spPr>
            <a:solidFill>
              <a:srgbClr val="007DB7"/>
            </a:solidFill>
          </c:spPr>
          <c:cat>
            <c:strRef>
              <c:f>Sheet1!$A$2:$A$5</c:f>
              <c:strCache>
                <c:ptCount val="4"/>
                <c:pt idx="0">
                  <c:v>Punjab</c:v>
                </c:pt>
                <c:pt idx="1">
                  <c:v>Sindh</c:v>
                </c:pt>
                <c:pt idx="2">
                  <c:v>KP</c:v>
                </c:pt>
                <c:pt idx="3">
                  <c:v>Balochistan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</c:v>
                </c:pt>
                <c:pt idx="1">
                  <c:v>1.22</c:v>
                </c:pt>
                <c:pt idx="2">
                  <c:v>0.79</c:v>
                </c:pt>
                <c:pt idx="3">
                  <c:v>0.73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Pasha 2018-19</c:v>
                </c:pt>
              </c:strCache>
            </c:strRef>
          </c:tx>
          <c:spPr>
            <a:solidFill>
              <a:srgbClr val="F06D2A"/>
            </a:solidFill>
          </c:spPr>
          <c:cat>
            <c:strRef>
              <c:f>Sheet1!$A$2:$A$5</c:f>
              <c:strCache>
                <c:ptCount val="4"/>
                <c:pt idx="0">
                  <c:v>Punjab</c:v>
                </c:pt>
                <c:pt idx="1">
                  <c:v>Sindh</c:v>
                </c:pt>
                <c:pt idx="2">
                  <c:v>KP</c:v>
                </c:pt>
                <c:pt idx="3">
                  <c:v>Balochistan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1.0</c:v>
                </c:pt>
                <c:pt idx="1">
                  <c:v>1.12</c:v>
                </c:pt>
                <c:pt idx="2">
                  <c:v>0.91</c:v>
                </c:pt>
                <c:pt idx="3">
                  <c:v>0.71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Pasha 2014-15</c:v>
                </c:pt>
              </c:strCache>
            </c:strRef>
          </c:tx>
          <c:spPr>
            <a:solidFill>
              <a:srgbClr val="F3E600"/>
            </a:solidFill>
            <a:ln w="19050">
              <a:solidFill>
                <a:srgbClr val="F28429"/>
              </a:solidFill>
            </a:ln>
          </c:spPr>
          <c:cat>
            <c:strRef>
              <c:f>Sheet1!$A$2:$A$5</c:f>
              <c:strCache>
                <c:ptCount val="4"/>
                <c:pt idx="0">
                  <c:v>Punjab</c:v>
                </c:pt>
                <c:pt idx="1">
                  <c:v>Sindh</c:v>
                </c:pt>
                <c:pt idx="2">
                  <c:v>KP</c:v>
                </c:pt>
                <c:pt idx="3">
                  <c:v>Balochistan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0.96</c:v>
                </c:pt>
                <c:pt idx="1">
                  <c:v>1.22</c:v>
                </c:pt>
                <c:pt idx="2">
                  <c:v>0.94</c:v>
                </c:pt>
                <c:pt idx="3">
                  <c:v>0.55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HIES consumption</c:v>
                </c:pt>
              </c:strCache>
            </c:strRef>
          </c:tx>
          <c:spPr>
            <a:solidFill>
              <a:srgbClr val="8DC63F"/>
            </a:solidFill>
          </c:spPr>
          <c:cat>
            <c:strRef>
              <c:f>Sheet1!$A$2:$A$5</c:f>
              <c:strCache>
                <c:ptCount val="4"/>
                <c:pt idx="0">
                  <c:v>Punjab</c:v>
                </c:pt>
                <c:pt idx="1">
                  <c:v>Sindh</c:v>
                </c:pt>
                <c:pt idx="2">
                  <c:v>KP</c:v>
                </c:pt>
                <c:pt idx="3">
                  <c:v>Balochistan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1.06</c:v>
                </c:pt>
                <c:pt idx="1">
                  <c:v>1.03</c:v>
                </c:pt>
                <c:pt idx="2">
                  <c:v>0.85</c:v>
                </c:pt>
                <c:pt idx="3">
                  <c:v>0.75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62626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35"/>
          <c:min val="0.4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Arial"/>
            </a:defRPr>
          </a:pPr>
        </a:p>
      </c:txPr>
    </c:legend>
    <c:dispBlanksAs val="gap"/>
  </c:chart>
  <c:txPr>
    <a:bodyPr/>
    <a:lstStyle/>
    <a:p>
      <a:pPr>
        <a:defRPr sz="16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Published HDI</c:v>
                </c:pt>
              </c:strCache>
            </c:strRef>
          </c:tx>
          <c:spPr>
            <a:solidFill>
              <a:srgbClr val="007DB7"/>
            </a:solidFill>
          </c:spPr>
          <c:cat>
            <c:strRef>
              <c:f>Sheet1!$A$2:$A$5</c:f>
              <c:strCache>
                <c:ptCount val="4"/>
                <c:pt idx="0">
                  <c:v>Punjab</c:v>
                </c:pt>
                <c:pt idx="1">
                  <c:v>Sindh</c:v>
                </c:pt>
                <c:pt idx="2">
                  <c:v>KP</c:v>
                </c:pt>
                <c:pt idx="3">
                  <c:v>Balochistan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0.572</c:v>
                </c:pt>
                <c:pt idx="1">
                  <c:v>0.574</c:v>
                </c:pt>
                <c:pt idx="2">
                  <c:v>0.546</c:v>
                </c:pt>
                <c:pt idx="3">
                  <c:v>0.473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Pasha 2018-19 income</c:v>
                </c:pt>
              </c:strCache>
            </c:strRef>
          </c:tx>
          <c:spPr>
            <a:solidFill>
              <a:srgbClr val="F06D2A"/>
            </a:solidFill>
          </c:spPr>
          <c:cat>
            <c:strRef>
              <c:f>Sheet1!$A$2:$A$5</c:f>
              <c:strCache>
                <c:ptCount val="4"/>
                <c:pt idx="0">
                  <c:v>Punjab</c:v>
                </c:pt>
                <c:pt idx="1">
                  <c:v>Sindh</c:v>
                </c:pt>
                <c:pt idx="2">
                  <c:v>KP</c:v>
                </c:pt>
                <c:pt idx="3">
                  <c:v>Balochistan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0.573</c:v>
                </c:pt>
                <c:pt idx="1">
                  <c:v>0.57</c:v>
                </c:pt>
                <c:pt idx="2">
                  <c:v>0.553</c:v>
                </c:pt>
                <c:pt idx="3">
                  <c:v>0.472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Pasha 2014-15 income</c:v>
                </c:pt>
              </c:strCache>
            </c:strRef>
          </c:tx>
          <c:spPr>
            <a:solidFill>
              <a:srgbClr val="F3E600"/>
            </a:solidFill>
            <a:ln w="19050">
              <a:solidFill>
                <a:srgbClr val="F28429"/>
              </a:solidFill>
            </a:ln>
          </c:spPr>
          <c:cat>
            <c:strRef>
              <c:f>Sheet1!$A$2:$A$5</c:f>
              <c:strCache>
                <c:ptCount val="4"/>
                <c:pt idx="0">
                  <c:v>Punjab</c:v>
                </c:pt>
                <c:pt idx="1">
                  <c:v>Sindh</c:v>
                </c:pt>
                <c:pt idx="2">
                  <c:v>KP</c:v>
                </c:pt>
                <c:pt idx="3">
                  <c:v>Balochistan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0.571</c:v>
                </c:pt>
                <c:pt idx="1">
                  <c:v>0.574</c:v>
                </c:pt>
                <c:pt idx="2">
                  <c:v>0.555</c:v>
                </c:pt>
                <c:pt idx="3">
                  <c:v>0.46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62626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0.4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Arial"/>
            </a:defRPr>
          </a:pPr>
        </a:p>
      </c:txPr>
    </c:legend>
    <c:dispBlanksAs val="gap"/>
  </c:chart>
  <c:txPr>
    <a:bodyPr/>
    <a:lstStyle/>
    <a:p>
      <a:pPr>
        <a:defRPr sz="16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LDI with decent work</c:v>
                </c:pt>
              </c:strCache>
            </c:strRef>
          </c:tx>
          <c:spPr>
            <a:ln w="44450">
              <a:solidFill>
                <a:srgbClr val="007DB7"/>
              </a:solidFill>
            </a:ln>
          </c:spPr>
          <c:marker>
            <c:size val="10"/>
            <c:spPr>
              <a:solidFill>
                <a:srgbClr val="007DB7"/>
              </a:solidFill>
              <a:ln>
                <a:solidFill>
                  <a:srgbClr val="007DB7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2012-13</c:v>
                </c:pt>
                <c:pt idx="1">
                  <c:v>2014-15</c:v>
                </c:pt>
                <c:pt idx="2">
                  <c:v>2017-18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0.397</c:v>
                </c:pt>
                <c:pt idx="1">
                  <c:v>0.416</c:v>
                </c:pt>
                <c:pt idx="2">
                  <c:v>0.422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LDI without decent work</c:v>
                </c:pt>
              </c:strCache>
            </c:strRef>
          </c:tx>
          <c:spPr>
            <a:ln w="44450">
              <a:solidFill>
                <a:srgbClr val="8DC63F"/>
              </a:solidFill>
            </a:ln>
          </c:spPr>
          <c:marker>
            <c:size val="10"/>
            <c:spPr>
              <a:solidFill>
                <a:srgbClr val="8DC63F"/>
              </a:solidFill>
              <a:ln>
                <a:solidFill>
                  <a:srgbClr val="8DC63F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2012-13</c:v>
                </c:pt>
                <c:pt idx="1">
                  <c:v>2014-15</c:v>
                </c:pt>
                <c:pt idx="2">
                  <c:v>2017-18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0.393</c:v>
                </c:pt>
                <c:pt idx="1">
                  <c:v>0.418</c:v>
                </c:pt>
                <c:pt idx="2">
                  <c:v>0.41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Skill premium index</c:v>
                </c:pt>
              </c:strCache>
            </c:strRef>
          </c:tx>
          <c:spPr>
            <a:ln w="44450">
              <a:solidFill>
                <a:srgbClr val="E9532B"/>
              </a:solidFill>
            </a:ln>
          </c:spPr>
          <c:marker>
            <c:size val="10"/>
            <c:spPr>
              <a:solidFill>
                <a:srgbClr val="E9532B"/>
              </a:solidFill>
              <a:ln>
                <a:solidFill>
                  <a:srgbClr val="E9532B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2012-13</c:v>
                </c:pt>
                <c:pt idx="1">
                  <c:v>2014-15</c:v>
                </c:pt>
                <c:pt idx="2">
                  <c:v>2017-18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0.371</c:v>
                </c:pt>
                <c:pt idx="1">
                  <c:v>0.413</c:v>
                </c:pt>
                <c:pt idx="2">
                  <c:v>0.345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62626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45"/>
          <c:min val="0.3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6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6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Interpolated Pasha shares</c:v>
                </c:pt>
              </c:strCache>
            </c:strRef>
          </c:tx>
          <c:spPr>
            <a:ln w="44450">
              <a:solidFill>
                <a:srgbClr val="E9532B"/>
              </a:solidFill>
            </a:ln>
          </c:spPr>
          <c:marker>
            <c:size val="10"/>
            <c:spPr>
              <a:solidFill>
                <a:srgbClr val="E9532B"/>
              </a:solidFill>
              <a:ln>
                <a:solidFill>
                  <a:srgbClr val="E9532B"/>
                </a:solidFill>
              </a:ln>
            </c:spPr>
          </c:marker>
          <c:dLbls>
            <c:txPr>
              <a:bodyPr/>
              <a:lstStyle/>
              <a:p>
                <a:pPr>
                  <a:defRPr sz="1600"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2012-13</c:v>
                </c:pt>
                <c:pt idx="1">
                  <c:v>2014-15</c:v>
                </c:pt>
                <c:pt idx="2">
                  <c:v>2017-18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0.47</c:v>
                </c:pt>
                <c:pt idx="1">
                  <c:v>0.62</c:v>
                </c:pt>
                <c:pt idx="2">
                  <c:v>0.37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Pasha 2018-19 shares held fixed</c:v>
                </c:pt>
              </c:strCache>
            </c:strRef>
          </c:tx>
          <c:spPr>
            <a:ln w="44450">
              <a:solidFill>
                <a:srgbClr val="007DB7"/>
              </a:solidFill>
            </a:ln>
          </c:spPr>
          <c:marker>
            <c:size val="10"/>
            <c:spPr>
              <a:solidFill>
                <a:srgbClr val="007DB7"/>
              </a:solidFill>
              <a:ln>
                <a:solidFill>
                  <a:srgbClr val="007DB7"/>
                </a:solidFill>
              </a:ln>
            </c:spPr>
          </c:marker>
          <c:dLbls>
            <c:txPr>
              <a:bodyPr/>
              <a:lstStyle/>
              <a:p>
                <a:pPr>
                  <a:defRPr sz="1600">
                    <a:latin typeface="Arial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2012-13</c:v>
                </c:pt>
                <c:pt idx="1">
                  <c:v>2014-15</c:v>
                </c:pt>
                <c:pt idx="2">
                  <c:v>2017-18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0.31</c:v>
                </c:pt>
                <c:pt idx="1">
                  <c:v>0.41</c:v>
                </c:pt>
                <c:pt idx="2">
                  <c:v>0.34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sz="1600"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62626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7"/>
          <c:min val="0.2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6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6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Published</c:v>
                </c:pt>
              </c:strCache>
            </c:strRef>
          </c:tx>
          <c:spPr>
            <a:solidFill>
              <a:srgbClr val="007DB7"/>
            </a:solidFill>
          </c:spPr>
          <c:cat>
            <c:strRef>
              <c:f>Sheet1!$A$2:$A$6</c:f>
              <c:strCache>
                <c:ptCount val="5"/>
                <c:pt idx="0">
                  <c:v>CDI 2018-19</c:v>
                </c:pt>
                <c:pt idx="1">
                  <c:v>YDI 2017-18</c:v>
                </c:pt>
                <c:pt idx="2">
                  <c:v>GDI 2018-19</c:v>
                </c:pt>
                <c:pt idx="3">
                  <c:v>GII 2018-19</c:v>
                </c:pt>
                <c:pt idx="4">
                  <c:v>LDI 2017-18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0.575</c:v>
                </c:pt>
                <c:pt idx="1">
                  <c:v>0.605</c:v>
                </c:pt>
                <c:pt idx="2">
                  <c:v>0.777</c:v>
                </c:pt>
                <c:pt idx="3">
                  <c:v>0.548</c:v>
                </c:pt>
                <c:pt idx="4">
                  <c:v>0.442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Reproduced</c:v>
                </c:pt>
              </c:strCache>
            </c:strRef>
          </c:tx>
          <c:spPr>
            <a:solidFill>
              <a:srgbClr val="F06D2A"/>
            </a:solidFill>
          </c:spPr>
          <c:cat>
            <c:strRef>
              <c:f>Sheet1!$A$2:$A$6</c:f>
              <c:strCache>
                <c:ptCount val="5"/>
                <c:pt idx="0">
                  <c:v>CDI 2018-19</c:v>
                </c:pt>
                <c:pt idx="1">
                  <c:v>YDI 2017-18</c:v>
                </c:pt>
                <c:pt idx="2">
                  <c:v>GDI 2018-19</c:v>
                </c:pt>
                <c:pt idx="3">
                  <c:v>GII 2018-19</c:v>
                </c:pt>
                <c:pt idx="4">
                  <c:v>LDI 2017-18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0.573</c:v>
                </c:pt>
                <c:pt idx="1">
                  <c:v>0.604</c:v>
                </c:pt>
                <c:pt idx="2">
                  <c:v>0.793</c:v>
                </c:pt>
                <c:pt idx="3">
                  <c:v>0.519</c:v>
                </c:pt>
                <c:pt idx="4">
                  <c:v>0.422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6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62626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3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Arial"/>
            </a:defRPr>
          </a:pPr>
        </a:p>
      </c:txPr>
    </c:legend>
    <c:dispBlanksAs val="gap"/>
  </c:chart>
  <c:txPr>
    <a:bodyPr/>
    <a:lstStyle/>
    <a:p>
      <a:pPr>
        <a:defRPr sz="16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NHDR 2007-08</c:v>
                </c:pt>
              </c:strCache>
            </c:strRef>
          </c:tx>
          <c:spPr>
            <a:solidFill>
              <a:srgbClr val="007DB7"/>
            </a:solidFill>
          </c:spPr>
          <c:cat>
            <c:strRef>
              <c:f>Sheet1!$A$2:$A$6</c:f>
              <c:strCache>
                <c:ptCount val="5"/>
                <c:pt idx="0">
                  <c:v>Pakistan</c:v>
                </c:pt>
                <c:pt idx="1">
                  <c:v>Punjab</c:v>
                </c:pt>
                <c:pt idx="2">
                  <c:v>Sindh</c:v>
                </c:pt>
                <c:pt idx="3">
                  <c:v>KP</c:v>
                </c:pt>
                <c:pt idx="4">
                  <c:v>Balochistan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73.0</c:v>
                </c:pt>
                <c:pt idx="1">
                  <c:v>76.0</c:v>
                </c:pt>
                <c:pt idx="2">
                  <c:v>67.0</c:v>
                </c:pt>
                <c:pt idx="3">
                  <c:v>74.0</c:v>
                </c:pt>
                <c:pt idx="4">
                  <c:v>57.0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HIES 2007-08</c:v>
                </c:pt>
              </c:strCache>
            </c:strRef>
          </c:tx>
          <c:spPr>
            <a:solidFill>
              <a:srgbClr val="8DC63F"/>
            </a:solidFill>
          </c:spPr>
          <c:cat>
            <c:strRef>
              <c:f>Sheet1!$A$2:$A$6</c:f>
              <c:strCache>
                <c:ptCount val="5"/>
                <c:pt idx="0">
                  <c:v>Pakistan</c:v>
                </c:pt>
                <c:pt idx="1">
                  <c:v>Punjab</c:v>
                </c:pt>
                <c:pt idx="2">
                  <c:v>Sindh</c:v>
                </c:pt>
                <c:pt idx="3">
                  <c:v>KP</c:v>
                </c:pt>
                <c:pt idx="4">
                  <c:v>Balochistan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68.9</c:v>
                </c:pt>
                <c:pt idx="1">
                  <c:v>76.5</c:v>
                </c:pt>
                <c:pt idx="2">
                  <c:v>62.0</c:v>
                </c:pt>
                <c:pt idx="3">
                  <c:v>58.2</c:v>
                </c:pt>
                <c:pt idx="4">
                  <c:v>42.4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PSLM 2006-07</c:v>
                </c:pt>
              </c:strCache>
            </c:strRef>
          </c:tx>
          <c:spPr>
            <a:solidFill>
              <a:srgbClr val="F06D2A"/>
            </a:solidFill>
          </c:spPr>
          <c:cat>
            <c:strRef>
              <c:f>Sheet1!$A$2:$A$6</c:f>
              <c:strCache>
                <c:ptCount val="5"/>
                <c:pt idx="0">
                  <c:v>Pakistan</c:v>
                </c:pt>
                <c:pt idx="1">
                  <c:v>Punjab</c:v>
                </c:pt>
                <c:pt idx="2">
                  <c:v>Sindh</c:v>
                </c:pt>
                <c:pt idx="3">
                  <c:v>KP</c:v>
                </c:pt>
                <c:pt idx="4">
                  <c:v>Balochistan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81.8</c:v>
                </c:pt>
                <c:pt idx="1">
                  <c:v>87.5</c:v>
                </c:pt>
                <c:pt idx="2">
                  <c:v>74.2</c:v>
                </c:pt>
                <c:pt idx="3">
                  <c:v>79.0</c:v>
                </c:pt>
                <c:pt idx="4">
                  <c:v>57.5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PSLM 2008-09</c:v>
                </c:pt>
              </c:strCache>
            </c:strRef>
          </c:tx>
          <c:spPr>
            <a:solidFill>
              <a:srgbClr val="F3E600"/>
            </a:solidFill>
            <a:ln w="19050">
              <a:solidFill>
                <a:srgbClr val="F28429"/>
              </a:solidFill>
            </a:ln>
          </c:spPr>
          <c:cat>
            <c:strRef>
              <c:f>Sheet1!$A$2:$A$6</c:f>
              <c:strCache>
                <c:ptCount val="5"/>
                <c:pt idx="0">
                  <c:v>Pakistan</c:v>
                </c:pt>
                <c:pt idx="1">
                  <c:v>Punjab</c:v>
                </c:pt>
                <c:pt idx="2">
                  <c:v>Sindh</c:v>
                </c:pt>
                <c:pt idx="3">
                  <c:v>KP</c:v>
                </c:pt>
                <c:pt idx="4">
                  <c:v>Balochistan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84.6</c:v>
                </c:pt>
                <c:pt idx="1">
                  <c:v>90.1</c:v>
                </c:pt>
                <c:pt idx="2">
                  <c:v>76.7</c:v>
                </c:pt>
                <c:pt idx="3">
                  <c:v>80.3</c:v>
                </c:pt>
                <c:pt idx="4">
                  <c:v>61.5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62626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Arial"/>
            </a:defRPr>
          </a:pPr>
        </a:p>
      </c:txPr>
    </c:legend>
    <c:dispBlanksAs val="gap"/>
  </c:chart>
  <c:txPr>
    <a:bodyPr/>
    <a:lstStyle/>
    <a:p>
      <a:pPr>
        <a:defRPr sz="16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UNDP Pakistan, National Human Development Report 2020 (NHDR 2020), Statistical Annex Tables 1 to 8A and the 28 index figures and maps. Reproduced values: NHDR2020 reproduction from microdata.do, 8. Stata runs/Run 20261004 203229.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Published values: UNDP Pakistan (2020), Pakistan National Human Development Report 2020, Statistical Annex Tables 1 to 8A. Reproduced values: NHDR2020 reproduction from microdata.do, 8. Stata runs/Run 20261004 203229. The one failing check is male wasting in Table 4A, which the PDHS 2017-18 microdata do not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package folder NHDR2020 replication from microdata, README.txt. Surveys: PBS HIES, LFS and PSLM; NIPS and ICF PDHS 2006-07, 2012-13, 2017-18 and PMMS 2019; UNICEF MICS6. Reproduced values: NHDR2020 reproduction from microdata.do, 8. Stata runs/Run 20261004 203229.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Published values: UNDP Pakistan (2020), Pakistan National Human Development Report 2020, Statistical Annex Tables 1 to 8A. Inversion: do file Section 5; all 120 published dimension indices (15 domains, 2 years, 4 quantities) reproduce within 0.0011. Reproduced values: NHDR2020 reproduction from microdata.do, 8. Stata runs/Run 20261004 203229.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Published values: UNDP Pakistan (2020), Pakistan National Human Development Report 2020, Statistical Annex Tables 1 to 8A. Reproduced: HDI all microdata.csv. Education from HIES 2018-19; life expectancy from PDHS 2017-18 under-five mortality, ten years, Coale-Demeny West; income from HIES consumption scaled to WDI GNI per head, PPP, fiscal-year average (4,925). Reproduced values: NHDR2020 reproduction from microdata.do, 8. Stata runs/Run 20261004 203229.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NHDR 2020 Table 2A (income per head by province over Pakistan). H.A. Pasha (2015), Growth of the Provincial Economies, Institute for Policy Reform: gross regional product per head, constant 2005-06 prices, 2014-15. H.A. Pasha (2021), Business Recorder, 17 August 2021: current factor cost, 2018-19. HIES 2018-19 consumption per head. Pasha (2019), the source NHDR names, is not public. Values: HDI Pasha income.csv. Reproduced values: NHDR2020 reproduction from microdata.do, 8. Stata runs/Run 20261004 203229.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HDI built with microdata education, NHDR's own life expectancy and national income level (4,922), and each province's income relative to Pakistan set to Pasha's; HIES keeps the split within provinces. Do file Section 20.7; HDI Pasha income.csv. Published values: UNDP Pakistan (2020), Pakistan National Human Development Report 2020, Statistical Annex Tables 1 to 8A. Reproduced values: NHDR2020 reproduction from microdata.do, 8. Stata runs/Run 20261004 203229.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LFS 2012-13, 2014-15 and 2017-18 microdata; mean monthly wages of paid employees in ISCO groups 1-2 and 8-9; occupation shares ptop and pbot. LDI with and without decent work: LDI 2012-13 2017-18 2024-25.csv. NHDR Figure 4.4 rises in both steps (about 0.41, 0.44, 0.44, read from the chart). Reproduced values: NHDR2020 reproduction from microdata.do, 8. Stata runs/Run 20261004 203229.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Provincial GDP = WDI current-price GDP x provincial share. Shares: Pasha IPR 2015 (constant 2005-06 prices; Balochistan 2.9% in 2014-15) and Pasha 2021 (current factor cost; 4.8% in 2018-19), interpolated between. Fixed-share version holds the 2018-19 shares in every year (lshare_fs). LFS self-employed in Balochistan: 1.00, 1.35 and 1.03 million. Reproduced values: NHDR2020 reproduction from microdata.do, 8. Stata runs/Run 20261004 203229.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Published values: UNDP Pakistan (2020), Pakistan National Human Development Report 2020, Statistical Annex Tables 1 to 8A. CDI: CDI reproduced PDHS.csv. YDI with PMMS 2019 youth survival: 3. Tables, Table 5. GDI with NHDR's life expectancy by sex: GDI reproduced 2018-19 2024-25.csv. GII: GII 2018-19 all microdata.csv. LDI: LDI 2012-13 2017-18 2024-25.csv. Reproduced values: NHDR2020 reproduction from microdata.do, 8. Stata runs/Run 20261004 203229.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DHS Program, DHS-Indicators-Stata, Chap08_CM/CM_CHILD.do; Rutstein and Rojas (2006), Guide to DHS Statistics; PDHS final reports 2006-07, 2012-13, 2017-18 (under-five mortality 94, 89, 74). Reproduced values: NHDR2020 reproduction from microdata.do, 8. Stata runs/Run 20261004 203229.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NHDR 2020 Map 4.2, Tables 2A, 4A, 5, 7A and technical notes; PBS LFS 2006-07, 2017-18 and 2018-19 microdata; PDHS 2017-18 microdata; WDI NY.GNP.PCAP.PP.CD. Reproduced values: NHDR2020 reproduction from microdata.do, 8. Stata runs/Run 20261004 203229.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immunization at 12-23 months: BCG, DPT3 and polio 3 by card, recall or campaign. PSLM 2006-07 and 2008-09 district rounds (do file Section 23.6, PSLM district rounds tested.csv); HIES 2007-08 (CDI reproduced 2007-08 2018-19.csv); NHDR 2020 Table 4A, 2007-08 column, which names PSLM 2007-08 (not held). Reproduced values: NHDR2020 reproduction from microdata.do, 8. Stata runs/Run 20261004 203229.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findings of this reproduction; Reproduced values: NHDR2020 reproduction from microdata.do, 8. Stata runs/Run 20261004 203229.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NHDR2020 replication from microdata/README.txt. Stata 16 or later; Python packages in 7. Python tools/requirements.txt; Node.js for the Word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1097280" cy="6858000"/>
          </a:xfrm>
          <a:prstGeom prst="rect">
            <a:avLst/>
          </a:prstGeom>
          <a:solidFill>
            <a:srgbClr val="009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0" y="0"/>
            <a:ext cx="1097280" cy="6858000"/>
          </a:xfrm>
          <a:prstGeom prst="rect">
            <a:avLst/>
          </a:prstGeom>
          <a:solidFill>
            <a:srgbClr val="00A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07040" y="0"/>
            <a:ext cx="1097280" cy="6858000"/>
          </a:xfrm>
          <a:prstGeom prst="rect">
            <a:avLst/>
          </a:prstGeom>
          <a:solidFill>
            <a:srgbClr val="44B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246120"/>
            <a:ext cx="2011680" cy="91440"/>
          </a:xfrm>
          <a:prstGeom prst="rect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7498079" cy="19202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Reproducing the NHDR 2020 indices from survey microdata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7498079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What reproduces, what does not, and why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F3E600"/>
                </a:solidFill>
                <a:latin typeface="Arial"/>
              </a:rPr>
              <a:t>301 of 302 validation checks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7498079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4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98D7"/>
                </a:solidFill>
                <a:latin typeface="Arial"/>
              </a:rPr>
              <a:t>WHAT WAS REPRODUCED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7DB7"/>
                </a:solidFill>
                <a:latin typeface="Arial"/>
              </a:rPr>
              <a:t>Seven NHDR indices rebuilt from raw survey files; 301 of 302 checks 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73152"/>
          </a:xfrm>
          <a:prstGeom prst="rect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04188"/>
            <a:ext cx="9692640" cy="2743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007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HDI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Human Development Index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Tables 1, 2A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82880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009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IHDI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Inequality-adjusted HDI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Table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00A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CDI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Child Development Index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Tables 4, 4A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82880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YDI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Youth Development Index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Tables 5, 5A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77639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GDI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Gender Development Index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Tables 6, 6A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977639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E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GII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Gender Inequality Index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Tables 7, 7A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77639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F28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LDI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Labour Development Index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Tables 8, 8A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3977639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44B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MPI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Multidimensional Poverty Index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2014-15, 2019-20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Years: 2006-07 and 2018-19 as published, the figure years 2012-13 and 2015-16, and every index carried to 2024-25.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98D7"/>
                </a:solidFill>
                <a:latin typeface="Arial"/>
              </a:rPr>
              <a:t>HOW IT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7DB7"/>
                </a:solidFill>
                <a:latin typeface="Arial"/>
              </a:rPr>
              <a:t>One do file runs from raw microdata to every annex table in about five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73152"/>
          </a:xfrm>
          <a:prstGeom prst="rect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04188"/>
            <a:ext cx="9692640" cy="2743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entagon 5"/>
          <p:cNvSpPr/>
          <p:nvPr/>
        </p:nvSpPr>
        <p:spPr>
          <a:xfrm>
            <a:off x="502920" y="2103120"/>
            <a:ext cx="2331720" cy="1005840"/>
          </a:xfrm>
          <a:prstGeom prst="homePlate">
            <a:avLst/>
          </a:prstGeom>
          <a:solidFill>
            <a:srgbClr val="007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6. Raw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91840"/>
            <a:ext cx="2103120" cy="1828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HIES, LFS, PSLM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PDHS, PMMS, MICS6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Published tables</a:t>
            </a:r>
          </a:p>
        </p:txBody>
      </p:sp>
      <p:sp>
        <p:nvSpPr>
          <p:cNvPr id="8" name="Chevron 7"/>
          <p:cNvSpPr/>
          <p:nvPr/>
        </p:nvSpPr>
        <p:spPr>
          <a:xfrm>
            <a:off x="2788920" y="2103120"/>
            <a:ext cx="2331720" cy="1005840"/>
          </a:xfrm>
          <a:prstGeom prst="chevron">
            <a:avLst/>
          </a:prstGeom>
          <a:solidFill>
            <a:srgbClr val="009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1. 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291840"/>
            <a:ext cx="2103120" cy="1828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Stata do file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27 sections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302 checks</a:t>
            </a:r>
          </a:p>
        </p:txBody>
      </p:sp>
      <p:sp>
        <p:nvSpPr>
          <p:cNvPr id="10" name="Chevron 9"/>
          <p:cNvSpPr/>
          <p:nvPr/>
        </p:nvSpPr>
        <p:spPr>
          <a:xfrm>
            <a:off x="5074920" y="2103120"/>
            <a:ext cx="2331720" cy="1005840"/>
          </a:xfrm>
          <a:prstGeom prst="chevron">
            <a:avLst/>
          </a:prstGeom>
          <a:solidFill>
            <a:srgbClr val="00A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8. Stata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59" y="3291840"/>
            <a:ext cx="2103120" cy="1828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Log and checks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Result CSVs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Labelled workbook</a:t>
            </a:r>
          </a:p>
        </p:txBody>
      </p:sp>
      <p:sp>
        <p:nvSpPr>
          <p:cNvPr id="12" name="Chevron 11"/>
          <p:cNvSpPr/>
          <p:nvPr/>
        </p:nvSpPr>
        <p:spPr>
          <a:xfrm>
            <a:off x="7360920" y="2103120"/>
            <a:ext cx="2331720" cy="1005840"/>
          </a:xfrm>
          <a:prstGeom prst="chevron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7. Python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291840"/>
            <a:ext cx="2103120" cy="1828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Annex tables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NHDR-style figures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Note and deck</a:t>
            </a:r>
          </a:p>
        </p:txBody>
      </p:sp>
      <p:sp>
        <p:nvSpPr>
          <p:cNvPr id="14" name="Chevron 13"/>
          <p:cNvSpPr/>
          <p:nvPr/>
        </p:nvSpPr>
        <p:spPr>
          <a:xfrm>
            <a:off x="9646920" y="2103120"/>
            <a:ext cx="2331720" cy="1005840"/>
          </a:xfrm>
          <a:prstGeom prst="chevron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 to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3291840"/>
            <a:ext cx="2103120" cy="1828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Notes, tables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Plots, CSVs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For the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74920"/>
            <a:ext cx="1115568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HIES: Household Integrated Economic Survey. LFS: Labour Force Survey. PSLM: Pakistan Social and Living Standards Measurement. PDHS: Pakistan Demographic and Health Survey. PMMS: Pakistan Maternal Mortality Survey. MICS6: Multiple Indicator Cluster Surveys, round 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98D7"/>
                </a:solidFill>
                <a:latin typeface="Arial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7DB7"/>
                </a:solidFill>
                <a:latin typeface="Arial"/>
              </a:rPr>
              <a:t>NHDR's HDI is a hybrid that no UNDP vintage uses, recovered by inverting its own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73152"/>
          </a:xfrm>
          <a:prstGeom prst="rect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04188"/>
            <a:ext cx="9692640" cy="2743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651760" cy="2651760"/>
          </a:xfrm>
          <a:prstGeom prst="roundRect">
            <a:avLst>
              <a:gd name="adj" fmla="val 6000"/>
            </a:avLst>
          </a:prstGeom>
          <a:solidFill>
            <a:srgbClr val="007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Education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Two-thirds adult literacy 15+, one-third net enrolment 5-14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pre-2010 UNDP weights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828800"/>
            <a:ext cx="2651760" cy="2651760"/>
          </a:xfrm>
          <a:prstGeom prst="roundRect">
            <a:avLst>
              <a:gd name="adj" fmla="val 6000"/>
            </a:avLst>
          </a:prstGeom>
          <a:solidFill>
            <a:srgbClr val="00A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Health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Life expectancy, goalposts 25 and 90 years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neither vintage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2651760" cy="2651760"/>
          </a:xfrm>
          <a:prstGeom prst="roundRect">
            <a:avLst>
              <a:gd name="adj" fmla="val 6000"/>
            </a:avLst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Income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Log income per head, 100 to 100,000 purchasing power parity (PPP) dollars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neither vintage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828800"/>
            <a:ext cx="2651760" cy="2651760"/>
          </a:xfrm>
          <a:prstGeom prst="roundRect">
            <a:avLst>
              <a:gd name="adj" fmla="val 6000"/>
            </a:avLst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Aggregation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Geometric mean of the three indices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post-2010 UNDP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800600"/>
            <a:ext cx="11155680" cy="128016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DB7"/>
                </a:solidFill>
                <a:latin typeface="Arial"/>
              </a:rPr>
              <a:t>120 of 120 published dimension indices reproduce within 0.0011, the rounding of Table 2A's one-decimal inputs.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98D7"/>
                </a:solidFill>
                <a:latin typeface="Arial"/>
              </a:rPr>
              <a:t>HUMAN DEVELOPMENT INDEX, 2018-19 (KP: KHYBER PAKHTUNKHWA)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7DB7"/>
                </a:solidFill>
                <a:latin typeface="Arial"/>
              </a:rPr>
              <a:t>Education reproduces exactly; health and income move the provincial HDI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73152"/>
          </a:xfrm>
          <a:prstGeom prst="rect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04188"/>
            <a:ext cx="9692640" cy="2743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691640"/>
          <a:ext cx="786384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828800"/>
            <a:ext cx="3200400" cy="2194560"/>
          </a:xfrm>
          <a:prstGeom prst="roundRect">
            <a:avLst>
              <a:gd name="adj" fmla="val 6000"/>
            </a:avLst>
          </a:prstGeom>
          <a:solidFill>
            <a:srgbClr val="007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Education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All 30 domain totals within 0.0002 of the published HDI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4206240"/>
            <a:ext cx="3200400" cy="2194560"/>
          </a:xfrm>
          <a:prstGeom prst="roundRect">
            <a:avLst>
              <a:gd name="adj" fmla="val 6000"/>
            </a:avLst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Health and income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Punjab 0.582 against 0.572; Sindh 0.561 against 0.574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98D7"/>
                </a:solidFill>
                <a:latin typeface="Arial"/>
              </a:rPr>
              <a:t>PROVINCIAL INCOME PER HEAD, PAKISTAN = 1.00, 2018-19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7DB7"/>
                </a:solidFill>
                <a:latin typeface="Arial"/>
              </a:rPr>
              <a:t>NHDR's provincial income matches no single Pasha estimate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73152"/>
          </a:xfrm>
          <a:prstGeom prst="rect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04188"/>
            <a:ext cx="9692640" cy="2743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691640"/>
          <a:ext cx="786384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828800"/>
            <a:ext cx="3200400" cy="1417320"/>
          </a:xfrm>
          <a:prstGeom prst="roundRect">
            <a:avLst>
              <a:gd name="adj" fmla="val 6000"/>
            </a:avLst>
          </a:prstGeom>
          <a:solidFill>
            <a:srgbClr val="007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Sindh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NHDR 1.22 equals Pasha 2014-15 (1.22)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3383280"/>
            <a:ext cx="3200400" cy="1417320"/>
          </a:xfrm>
          <a:prstGeom prst="roundRect">
            <a:avLst>
              <a:gd name="adj" fmla="val 6000"/>
            </a:avLst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KP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NHDR 0.79, below both Pasha estimates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4937760"/>
            <a:ext cx="3200400" cy="1463040"/>
          </a:xfrm>
          <a:prstGeom prst="roundRect">
            <a:avLst>
              <a:gd name="adj" fmla="val 6000"/>
            </a:avLst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Two concepts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Pasha counts output where produced; HIES counts household spending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98D7"/>
                </a:solidFill>
                <a:latin typeface="Arial"/>
              </a:rPr>
              <a:t>HDI 2018-19 WITH PASHA'S PROVINCIAL INCOME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7DB7"/>
                </a:solidFill>
                <a:latin typeface="Arial"/>
              </a:rPr>
              <a:t>On Pasha's 2018-19 income, Punjab and Balochistan match; KP and Sindh do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73152"/>
          </a:xfrm>
          <a:prstGeom prst="rect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04188"/>
            <a:ext cx="9692640" cy="2743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691640"/>
          <a:ext cx="786384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828800"/>
            <a:ext cx="3200400" cy="1005840"/>
          </a:xfrm>
          <a:prstGeom prst="roundRect">
            <a:avLst>
              <a:gd name="adj" fmla="val 6000"/>
            </a:avLst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Punjab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0.573 against 0.572 published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971800"/>
            <a:ext cx="3200400" cy="1005840"/>
          </a:xfrm>
          <a:prstGeom prst="roundRect">
            <a:avLst>
              <a:gd name="adj" fmla="val 6000"/>
            </a:avLst>
          </a:prstGeom>
          <a:solidFill>
            <a:srgbClr val="E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Sindh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0.570 against 0.574 published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4114800"/>
            <a:ext cx="3200400" cy="1005840"/>
          </a:xfrm>
          <a:prstGeom prst="roundRect">
            <a:avLst>
              <a:gd name="adj" fmla="val 6000"/>
            </a:avLst>
          </a:prstGeom>
          <a:solidFill>
            <a:srgbClr val="E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KP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0.553 against 0.546 published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5257800"/>
            <a:ext cx="3200400" cy="1005840"/>
          </a:xfrm>
          <a:prstGeom prst="roundRect">
            <a:avLst>
              <a:gd name="adj" fmla="val 6000"/>
            </a:avLst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Balochistan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0.472 against 0.473 published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98D7"/>
                </a:solidFill>
                <a:latin typeface="Arial"/>
              </a:rPr>
              <a:t>LABOUR DEVELOPMENT INDEX, PAKISTAN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7DB7"/>
                </a:solidFill>
                <a:latin typeface="Arial"/>
              </a:rPr>
              <a:t>The LDI turns because wages of the top occupations turn, not because jobs 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73152"/>
          </a:xfrm>
          <a:prstGeom prst="rect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04188"/>
            <a:ext cx="9692640" cy="2743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691640"/>
          <a:ext cx="585216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92240" y="1828800"/>
            <a:ext cx="5212080" cy="1463040"/>
          </a:xfrm>
          <a:prstGeom prst="roundRect">
            <a:avLst>
              <a:gd name="adj" fmla="val 6000"/>
            </a:avLst>
          </a:prstGeom>
          <a:solidFill>
            <a:srgbClr val="007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2012-13 to 2014-15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Top wages +28%, bottom +19%: premium 2.69 to 2.89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429000"/>
            <a:ext cx="5212080" cy="1463040"/>
          </a:xfrm>
          <a:prstGeom prst="roundRect">
            <a:avLst>
              <a:gd name="adj" fmla="val 6000"/>
            </a:avLst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2014-15 to 2017-18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Top wages +17%, bottom +31%: premium falls to 2.57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50292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Occupation mix stable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Top groups 12 to 13% of paid employees, bottom 43 to 46%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98D7"/>
                </a:solidFill>
                <a:latin typeface="Arial"/>
              </a:rPr>
              <a:t>LABOR SHARE OF GDP, BALOCHISTAN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7DB7"/>
                </a:solidFill>
                <a:latin typeface="Arial"/>
              </a:rPr>
              <a:t>Balochistan's labor share swings because Pasha's two estimates use different bases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73152"/>
          </a:xfrm>
          <a:prstGeom prst="rect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04188"/>
            <a:ext cx="9692640" cy="2743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691640"/>
          <a:ext cx="694944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1828800"/>
            <a:ext cx="4114800" cy="2103120"/>
          </a:xfrm>
          <a:prstGeom prst="roundRect">
            <a:avLst>
              <a:gd name="adj" fmla="val 6000"/>
            </a:avLst>
          </a:prstGeom>
          <a:solidFill>
            <a:srgbClr val="E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Basis change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Pasha 2015: 2.9% of GDP at constant prices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Pasha 2021: 4.8% at current factor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411480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007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Fixed shares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Labor share 0.31 to 0.41 instead of 0.37 to 0.62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LFS 2014-15 also counts more self-employed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98D7"/>
                </a:solidFill>
                <a:latin typeface="Arial"/>
              </a:rPr>
              <a:t>PAKISTAN, PUBLISHED AGAINST REPRODUCED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7DB7"/>
                </a:solidFill>
                <a:latin typeface="Arial"/>
              </a:rPr>
              <a:t>The companion indices land within 0.03 of the published values for Pakistan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73152"/>
          </a:xfrm>
          <a:prstGeom prst="rect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04188"/>
            <a:ext cx="9692640" cy="2743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691640"/>
          <a:ext cx="786384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828800"/>
            <a:ext cx="3200400" cy="2194560"/>
          </a:xfrm>
          <a:prstGeom prst="roundRect">
            <a:avLst>
              <a:gd name="adj" fmla="val 6000"/>
            </a:avLst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Close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CDI, YDI within 0.002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4206240"/>
            <a:ext cx="3200400" cy="2194560"/>
          </a:xfrm>
          <a:prstGeom prst="roundRect">
            <a:avLst>
              <a:gd name="adj" fmla="val 6000"/>
            </a:avLst>
          </a:prstGeom>
          <a:solidFill>
            <a:srgbClr val="E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Apart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GDI: LFS earnings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GII: early marriage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LDI: GDP 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98D7"/>
                </a:solidFill>
                <a:latin typeface="Arial"/>
              </a:rPr>
              <a:t>WHAT WE CORRECTED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7DB7"/>
                </a:solidFill>
                <a:latin typeface="Arial"/>
              </a:rPr>
              <a:t>Four defects in the reproduction code were found and fixed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73152"/>
          </a:xfrm>
          <a:prstGeom prst="rect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04188"/>
            <a:ext cx="9692640" cy="2743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783080"/>
            <a:ext cx="731520" cy="731520"/>
          </a:xfrm>
          <a:prstGeom prst="ellipse">
            <a:avLst/>
          </a:prstGeom>
          <a:solidFill>
            <a:srgbClr val="007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51760"/>
            <a:ext cx="2651760" cy="3566160"/>
          </a:xfrm>
          <a:prstGeom prst="roundRect">
            <a:avLst>
              <a:gd name="adj" fmla="val 6000"/>
            </a:avLst>
          </a:prstGeom>
          <a:solidFill>
            <a:srgbClr val="007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Child deaths dropped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Age at death heaped at whole years pushed deaths out of the window. A line-by-line port of the DHS code returns 94.17, 89.01 and 74.00 per 1,000.</a:t>
            </a:r>
          </a:p>
        </p:txBody>
      </p:sp>
      <p:sp>
        <p:nvSpPr>
          <p:cNvPr id="8" name="Oval 7"/>
          <p:cNvSpPr/>
          <p:nvPr/>
        </p:nvSpPr>
        <p:spPr>
          <a:xfrm>
            <a:off x="4297680" y="1783080"/>
            <a:ext cx="731520" cy="731520"/>
          </a:xfrm>
          <a:prstGeom prst="ellipse">
            <a:avLst/>
          </a:prstGeom>
          <a:solidFill>
            <a:srgbClr val="00A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651760"/>
            <a:ext cx="2651760" cy="3566160"/>
          </a:xfrm>
          <a:prstGeom prst="roundRect">
            <a:avLst>
              <a:gd name="adj" fmla="val 6000"/>
            </a:avLst>
          </a:prstGeom>
          <a:solidFill>
            <a:srgbClr val="00A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CDI survival window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Table 4A uses ten years in 2007-08 and five in 2018-19. All 30 cells now within 0.0005.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0" y="1783080"/>
            <a:ext cx="731520" cy="731520"/>
          </a:xfrm>
          <a:prstGeom prst="ellipse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2651760" cy="3566160"/>
          </a:xfrm>
          <a:prstGeom prst="roundRect">
            <a:avLst>
              <a:gd name="adj" fmla="val 6000"/>
            </a:avLst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Vaccination age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PDHS 2017-18 dates age from the day of birth (b19). Basic vaccination 65.6% against 66.</a:t>
            </a:r>
          </a:p>
        </p:txBody>
      </p:sp>
      <p:sp>
        <p:nvSpPr>
          <p:cNvPr id="12" name="Oval 11"/>
          <p:cNvSpPr/>
          <p:nvPr/>
        </p:nvSpPr>
        <p:spPr>
          <a:xfrm>
            <a:off x="9966960" y="1783080"/>
            <a:ext cx="731520" cy="731520"/>
          </a:xfrm>
          <a:prstGeom prst="ellipse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2651760"/>
            <a:ext cx="2651760" cy="3566160"/>
          </a:xfrm>
          <a:prstGeom prst="roundRect">
            <a:avLst>
              <a:gd name="adj" fmla="val 6000"/>
            </a:avLst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Empty anthropometry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PDHS 2006-07 carries height and weight fields with no values. The code now tests for values.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98D7"/>
                </a:solidFill>
                <a:latin typeface="Arial"/>
              </a:rPr>
              <a:t>WHAT THE REPORT GETS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7DB7"/>
                </a:solidFill>
                <a:latin typeface="Arial"/>
              </a:rPr>
              <a:t>NHDR 2020 contradicts itself or its sources in six places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73152"/>
          </a:xfrm>
          <a:prstGeom prst="rect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04188"/>
            <a:ext cx="9692640" cy="2743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007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Map 4.2 vs Table 5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Provincial YDI: 0.435, 0.572, 0.621, 0.630 in the map; 0.517, 0.524, 0.614, 0.637 in the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82880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Early marriage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20.0% of women 15-19 in 2018-19; every LFS round gives 12.3 to 12.6%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82880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2006-07 income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4,135 PPP dollars; WDI gives 3,350 and no series gives 4,135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06908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00A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YDI goalposts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Note prints 0.9770; only 0.9970 reproduces Table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406908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Net enrolment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Annex definition gives 62.0%; the printed 37.0 is level matched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406908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F28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Male wasting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Table 4A sits up to 1.3 points above the PDHS microdata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98D7"/>
                </a:solidFill>
                <a:latin typeface="Arial"/>
              </a:rPr>
              <a:t>FULL IMMUNIZATION, CHILDREN 12-23 MONTHS, PERCENT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7DB7"/>
                </a:solidFill>
                <a:latin typeface="Arial"/>
              </a:rPr>
              <a:t>The PSLM district rounds do not reproduce NHDR's 2007-08 immunization either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73152"/>
          </a:xfrm>
          <a:prstGeom prst="rect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04188"/>
            <a:ext cx="9692640" cy="2743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691640"/>
          <a:ext cx="841248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052560" y="1828800"/>
            <a:ext cx="2651760" cy="4480560"/>
          </a:xfrm>
          <a:prstGeom prst="roundRect">
            <a:avLst>
              <a:gd name="adj" fmla="val 6000"/>
            </a:avLst>
          </a:prstGeom>
          <a:solidFill>
            <a:srgbClr val="007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Verdict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PSLM is closer in KP and Balochistan, further in Punjab, Sindh and nationally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HIES 2007-08 stays as input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98D7"/>
                </a:solidFill>
                <a:latin typeface="Arial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7DB7"/>
                </a:solidFill>
                <a:latin typeface="Arial"/>
              </a:rPr>
              <a:t>Four items from UNDP Pakistan would close most of the remaining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73152"/>
          </a:xfrm>
          <a:prstGeom prst="rect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04188"/>
            <a:ext cx="9692640" cy="2743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822960" cy="822960"/>
          </a:xfrm>
          <a:prstGeom prst="ellipse">
            <a:avLst/>
          </a:prstGeom>
          <a:solidFill>
            <a:srgbClr val="007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28800"/>
            <a:ext cx="9966960" cy="82296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62626"/>
                </a:solidFill>
                <a:latin typeface="Arial"/>
              </a:rPr>
              <a:t>Pasha (2019) and the provincial income series of Table 2A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26080"/>
            <a:ext cx="822960" cy="822960"/>
          </a:xfrm>
          <a:prstGeom prst="ellipse">
            <a:avLst/>
          </a:prstGeom>
          <a:solidFill>
            <a:srgbClr val="00A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2926080"/>
            <a:ext cx="9966960" cy="82296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62626"/>
                </a:solidFill>
                <a:latin typeface="Arial"/>
              </a:rPr>
              <a:t>The model life table behind provincial life expectancy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023360"/>
            <a:ext cx="822960" cy="822960"/>
          </a:xfrm>
          <a:prstGeom prst="ellipse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4023360"/>
            <a:ext cx="9966960" cy="82296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62626"/>
                </a:solidFill>
                <a:latin typeface="Arial"/>
              </a:rPr>
              <a:t>The source of the early-marriage rates in Table 7A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120640"/>
            <a:ext cx="822960" cy="822960"/>
          </a:xfrm>
          <a:prstGeom prst="ellipse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5120640"/>
            <a:ext cx="9966960" cy="82296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62626"/>
                </a:solidFill>
                <a:latin typeface="Arial"/>
              </a:rPr>
              <a:t>The 2006-07 national income level and the CDI split by sex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98D7"/>
                </a:solidFill>
                <a:latin typeface="Arial"/>
              </a:rPr>
              <a:t>FOR 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7DB7"/>
                </a:solidFill>
                <a:latin typeface="Arial"/>
              </a:rPr>
              <a:t>The package runs end to end from one shared folder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73152"/>
          </a:xfrm>
          <a:prstGeom prst="rect">
            <a:avLst/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04188"/>
            <a:ext cx="9692640" cy="2743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007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1. Dos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Do file and variable dictionary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82880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009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2. Notes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Note, deck, variable inventory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00A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3. Tables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Annex Tables 1 to 8A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82880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44B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62626"/>
                </a:solidFill>
                <a:latin typeface="Arial"/>
              </a:rPr>
              <a:t>4. Plots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Figures side by side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2336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5. Output CSVs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Latest results and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402336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B1D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62626"/>
                </a:solidFill>
                <a:latin typeface="Arial"/>
              </a:rPr>
              <a:t>6. Raw data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Every input, with 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02336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F0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7. Python tools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Tables, figures, note, deck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402336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F28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8. Stata runs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One folder per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